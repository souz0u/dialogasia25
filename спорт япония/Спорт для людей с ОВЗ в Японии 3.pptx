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7"/>
  </p:notesMasterIdLst>
  <p:handoutMasterIdLst>
    <p:handoutMasterId r:id="rId8"/>
  </p:handoutMasterIdLst>
  <p:sldIdLst>
    <p:sldId id="257" r:id="rId2"/>
    <p:sldId id="258" r:id="rId3"/>
    <p:sldId id="259" r:id="rId4"/>
    <p:sldId id="261" r:id="rId5"/>
    <p:sldId id="260" r:id="rId6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9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E51D080-0FA4-452C-BE9C-57B885F95115}" type="datetime1">
              <a:rPr lang="ru-RU" smtClean="0"/>
              <a:t>14.11.2025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68A2903-BD5A-4833-B0CA-AB5B8165171B}" type="datetime1">
              <a:rPr lang="ru-RU" smtClean="0"/>
              <a:t>14.11.2025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  <a:endParaRPr lang="en-US"/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  <a:cs typeface="FreesiaUPC" panose="020B0502040204020203" pitchFamily="34" charset="-34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ru-RU"/>
              <a:t>Образец подзаголовка</a:t>
            </a:r>
            <a:endParaRPr lang="en-US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Дата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D4DAEB3-2211-4CA3-9D23-0143FCF3926F}" type="datetime1">
              <a:rPr lang="ru-RU" smtClean="0"/>
              <a:t>14.11.2025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Номер слайда 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289488-0C23-4DC8-A9FA-240659547385}" type="datetime1">
              <a:rPr lang="ru-RU" smtClean="0"/>
              <a:t>14.11.2025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Дата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3EFA117-2261-4A1D-8BE7-0B7E6A1366C0}" type="datetime1">
              <a:rPr lang="ru-RU" smtClean="0"/>
              <a:t>14.11.2025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9279E9-B6DA-4AB3-A7CE-B748E56BEA69}" type="datetime1">
              <a:rPr lang="ru-RU" smtClean="0"/>
              <a:t>14.11.2025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CF7452-61A3-4CDC-ACAB-74E5B4A7EF57}" type="datetime1">
              <a:rPr lang="ru-RU" smtClean="0"/>
              <a:t>14.11.2025</a:t>
            </a:fld>
            <a:endParaRPr lang="en-US" dirty="0"/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Номер слайда 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D00952-BE77-47A2-BE29-2226E2D6BB12}" type="datetime1">
              <a:rPr lang="ru-RU" smtClean="0"/>
              <a:t>14.11.2025</a:t>
            </a:fld>
            <a:endParaRPr lang="en-US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Номер слайда 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4D5EF43-AECB-4459-AE90-3AFB54138C76}" type="datetime1">
              <a:rPr lang="ru-RU" smtClean="0"/>
              <a:t>14.11.2025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 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 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FD0FAC8F-653F-479B-B209-9F30C9091843}" type="datetime1">
              <a:rPr lang="ru-RU" smtClean="0"/>
              <a:t>14.11.2025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36FD9FC9-5FD1-4E3B-B719-212F55599717}" type="datetime1">
              <a:rPr lang="ru-RU" smtClean="0"/>
              <a:t>14.11.2025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2E9B35-0826-45CC-9C2C-707B22DFAA83}" type="datetime1">
              <a:rPr lang="ru-RU" smtClean="0"/>
              <a:t>14.11.2025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C0063D-EDF2-4190-A726-B9B651F864E7}" type="datetime1">
              <a:rPr lang="ru-RU" smtClean="0"/>
              <a:t>14.11.2025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" dirty="0"/>
              <a:t>Стиль образца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ru" dirty="0"/>
              <a:t>Щелкните, чтобы изменить стили текста образца слайда</a:t>
            </a:r>
          </a:p>
          <a:p>
            <a:pPr lvl="1" rtl="0"/>
            <a:r>
              <a:rPr lang="ru" dirty="0"/>
              <a:t>Второй уровень</a:t>
            </a:r>
          </a:p>
          <a:p>
            <a:pPr lvl="2" rtl="0"/>
            <a:r>
              <a:rPr lang="ru" dirty="0"/>
              <a:t>Третий уровень</a:t>
            </a:r>
          </a:p>
          <a:p>
            <a:pPr lvl="3" rtl="0"/>
            <a:r>
              <a:rPr lang="ru" dirty="0"/>
              <a:t>Четвертый уровень</a:t>
            </a:r>
          </a:p>
          <a:p>
            <a:pPr lvl="4" rtl="0"/>
            <a:r>
              <a:rPr lang="ru" dirty="0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fld id="{428A7F57-8526-4A03-89D8-FFB0245E6649}" type="datetime1">
              <a:rPr lang="ru-RU" smtClean="0"/>
              <a:t>14.11.2025</a:t>
            </a:fld>
            <a:endParaRPr lang="en-US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 rtlCol="0">
            <a:normAutofit/>
          </a:bodyPr>
          <a:lstStyle/>
          <a:p>
            <a:r>
              <a:rPr lang="ru" sz="7200" dirty="0"/>
              <a:t>Спорт для людей с ОВЗ в Японии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/>
          </a:bodyPr>
          <a:lstStyle/>
          <a:p>
            <a:pPr algn="r" rtl="0"/>
            <a:endParaRPr lang="ru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Рисунок 4" descr="Изображение здания, места для сидения, скамейки, вид сбоку&#10;&#10;Автоматически созданное описание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594" y="144325"/>
            <a:ext cx="9834765" cy="1382565"/>
          </a:xfrm>
        </p:spPr>
        <p:txBody>
          <a:bodyPr rtlCol="0" anchor="ctr">
            <a:normAutofit fontScale="90000"/>
          </a:bodyPr>
          <a:lstStyle/>
          <a:p>
            <a:pPr lvl="0" rtl="0"/>
            <a:r>
              <a:rPr lang="ru" sz="4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Цель</a:t>
            </a:r>
            <a:r>
              <a:rPr lang="en-US" sz="4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4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изучить тренды в области спорта для людей с ОВЗ в Японии</a:t>
            </a:r>
            <a:endParaRPr lang="ru" sz="48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EF263A2-BF46-2999-EA96-CEB87F3D38CF}"/>
              </a:ext>
            </a:extLst>
          </p:cNvPr>
          <p:cNvSpPr txBox="1">
            <a:spLocks/>
          </p:cNvSpPr>
          <p:nvPr/>
        </p:nvSpPr>
        <p:spPr>
          <a:xfrm>
            <a:off x="396222" y="2063773"/>
            <a:ext cx="9834765" cy="2387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Задачи</a:t>
            </a:r>
            <a:r>
              <a:rPr lang="en-US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3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indent="-914400">
              <a:buAutoNum type="arabicPeriod"/>
            </a:pPr>
            <a:r>
              <a:rPr lang="ru-RU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Собрать данные</a:t>
            </a:r>
          </a:p>
          <a:p>
            <a:pPr marL="914400" indent="-914400">
              <a:buAutoNum type="arabicPeriod"/>
            </a:pPr>
            <a:r>
              <a:rPr lang="ru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Получить топ частотных слов</a:t>
            </a:r>
          </a:p>
          <a:p>
            <a:pPr marL="914400" indent="-914400">
              <a:buAutoNum type="arabicPeriod"/>
            </a:pPr>
            <a:r>
              <a:rPr lang="ru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Удалить стоп слова</a:t>
            </a:r>
          </a:p>
          <a:p>
            <a:pPr marL="914400" indent="-914400">
              <a:buAutoNum type="arabicPeriod"/>
            </a:pPr>
            <a:r>
              <a:rPr lang="ru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Получить облака слов (на русском и на японском)</a:t>
            </a:r>
          </a:p>
          <a:p>
            <a:pPr marL="914400" indent="-914400">
              <a:buAutoNum type="arabicPeriod"/>
            </a:pPr>
            <a:r>
              <a:rPr lang="ru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Проанализировать полученные данные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6DA99D-CECF-3AB8-8AE2-842C70D1D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EB3AEA45-0E37-0D88-2F3B-01333045E8B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56EECC30-13C0-D988-484B-C01FF280D3D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E71CC5-0223-253D-5789-33D3D4EE89BC}"/>
              </a:ext>
            </a:extLst>
          </p:cNvPr>
          <p:cNvSpPr txBox="1">
            <a:spLocks/>
          </p:cNvSpPr>
          <p:nvPr/>
        </p:nvSpPr>
        <p:spPr>
          <a:xfrm>
            <a:off x="1066783" y="2314620"/>
            <a:ext cx="9834765" cy="1382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" sz="48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2152BD6-3B69-5A00-63A7-47DC6F2D3B41}"/>
              </a:ext>
            </a:extLst>
          </p:cNvPr>
          <p:cNvSpPr txBox="1">
            <a:spLocks/>
          </p:cNvSpPr>
          <p:nvPr/>
        </p:nvSpPr>
        <p:spPr>
          <a:xfrm>
            <a:off x="243805" y="500862"/>
            <a:ext cx="9775388" cy="1382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Метод:</a:t>
            </a:r>
            <a:r>
              <a:rPr lang="ru-RU" sz="480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Частотный анализ текстов и построение визуализации в виде облаков слов </a:t>
            </a:r>
            <a:endParaRPr lang="ru" sz="48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2152BD6-3B69-5A00-63A7-47DC6F2D3B41}"/>
              </a:ext>
            </a:extLst>
          </p:cNvPr>
          <p:cNvSpPr txBox="1">
            <a:spLocks/>
          </p:cNvSpPr>
          <p:nvPr/>
        </p:nvSpPr>
        <p:spPr>
          <a:xfrm>
            <a:off x="230759" y="2384288"/>
            <a:ext cx="10798645" cy="1382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Используемые технологии:</a:t>
            </a:r>
            <a:r>
              <a:rPr lang="ru-RU" sz="480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язык </a:t>
            </a:r>
            <a:r>
              <a:rPr lang="ru-RU" sz="4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программирования </a:t>
            </a:r>
            <a:r>
              <a:rPr lang="en-US" sz="4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</a:p>
          <a:p>
            <a:r>
              <a:rPr lang="ru-RU" sz="4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Библиотеки </a:t>
            </a:r>
            <a:r>
              <a:rPr lang="en-US" sz="4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pandas, </a:t>
            </a:r>
            <a:r>
              <a:rPr lang="en-US" sz="48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fugashi</a:t>
            </a:r>
            <a:r>
              <a:rPr lang="en-US" sz="4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8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wordcloud</a:t>
            </a:r>
            <a:endParaRPr lang="ru" sz="48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035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6DC932-33DD-E519-26A8-16F806DDC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4095F4D7-0DC8-C882-FE84-ED25856AEBC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924B52DD-A379-2ABB-E824-ABB487A93BA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F1682B-8E07-61A6-2586-5916FEA7D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7155" y="5103617"/>
            <a:ext cx="4734692" cy="1143000"/>
          </a:xfrm>
        </p:spPr>
        <p:txBody>
          <a:bodyPr rtlCol="0">
            <a:normAutofit/>
          </a:bodyPr>
          <a:lstStyle/>
          <a:p>
            <a:pPr rtl="0"/>
            <a:r>
              <a:rPr lang="ru-RU" dirty="0" smtClean="0">
                <a:solidFill>
                  <a:srgbClr val="FFFFFF"/>
                </a:solidFill>
              </a:rPr>
              <a:t>Код для создания облаков </a:t>
            </a:r>
            <a:endParaRPr lang="ru" dirty="0">
              <a:solidFill>
                <a:srgbClr val="FFFFFF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030"/>
            <a:ext cx="6457175" cy="349322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984" y="1594122"/>
            <a:ext cx="5532714" cy="3220134"/>
          </a:xfrm>
          <a:prstGeom prst="rect">
            <a:avLst/>
          </a:prstGeom>
        </p:spPr>
      </p:pic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49F1682B-8E07-61A6-2586-5916FEA7D38E}"/>
              </a:ext>
            </a:extLst>
          </p:cNvPr>
          <p:cNvSpPr txBox="1">
            <a:spLocks/>
          </p:cNvSpPr>
          <p:nvPr/>
        </p:nvSpPr>
        <p:spPr>
          <a:xfrm>
            <a:off x="294508" y="5273137"/>
            <a:ext cx="4734692" cy="1143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1"/>
                </a:solidFill>
                <a:latin typeface="+mn-lt"/>
                <a:ea typeface="+mn-ea"/>
                <a:cs typeface="FreesiaUPC" panose="020B0502040204020203" pitchFamily="34" charset="-34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mtClean="0">
                <a:solidFill>
                  <a:srgbClr val="FFFFFF"/>
                </a:solidFill>
              </a:rPr>
              <a:t>Код для подсчета частотности слов в текстах</a:t>
            </a:r>
            <a:endParaRPr lang="ru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4142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B10842-36F6-4ECC-C9C3-B950A528E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E34D4B59-0549-9BBD-4EC8-1FC60AE785B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C7D4309C-0DA5-30BB-0A66-2D9C124F30F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030263"/>
              </p:ext>
            </p:extLst>
          </p:nvPr>
        </p:nvGraphicFramePr>
        <p:xfrm>
          <a:off x="321038" y="191589"/>
          <a:ext cx="3625667" cy="6049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630">
                  <a:extLst>
                    <a:ext uri="{9D8B030D-6E8A-4147-A177-3AD203B41FA5}">
                      <a16:colId xmlns:a16="http://schemas.microsoft.com/office/drawing/2014/main" val="3037073079"/>
                    </a:ext>
                  </a:extLst>
                </a:gridCol>
                <a:gridCol w="1126675">
                  <a:extLst>
                    <a:ext uri="{9D8B030D-6E8A-4147-A177-3AD203B41FA5}">
                      <a16:colId xmlns:a16="http://schemas.microsoft.com/office/drawing/2014/main" val="2696858207"/>
                    </a:ext>
                  </a:extLst>
                </a:gridCol>
                <a:gridCol w="1410789">
                  <a:extLst>
                    <a:ext uri="{9D8B030D-6E8A-4147-A177-3AD203B41FA5}">
                      <a16:colId xmlns:a16="http://schemas.microsoft.com/office/drawing/2014/main" val="2879731202"/>
                    </a:ext>
                  </a:extLst>
                </a:gridCol>
                <a:gridCol w="663573">
                  <a:extLst>
                    <a:ext uri="{9D8B030D-6E8A-4147-A177-3AD203B41FA5}">
                      <a16:colId xmlns:a16="http://schemas.microsoft.com/office/drawing/2014/main" val="571229737"/>
                    </a:ext>
                  </a:extLst>
                </a:gridCol>
              </a:tblGrid>
              <a:tr h="253951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991452"/>
                  </a:ext>
                </a:extLst>
              </a:tr>
              <a:tr h="436529">
                <a:tc>
                  <a:txBody>
                    <a:bodyPr/>
                    <a:lstStyle/>
                    <a:p>
                      <a:r>
                        <a:rPr kumimoji="1" lang="ru-RU" altLang="ja-JP" dirty="0" smtClean="0">
                          <a:effectLst/>
                        </a:rPr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b="0" i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ボール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altLang="ja-JP" b="0" i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мяч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ru-RU" altLang="ja-JP" dirty="0" smtClean="0"/>
                        <a:t>63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947065"/>
                  </a:ext>
                </a:extLst>
              </a:tr>
              <a:tr h="436529">
                <a:tc>
                  <a:txBody>
                    <a:bodyPr/>
                    <a:lstStyle/>
                    <a:p>
                      <a:r>
                        <a:rPr kumimoji="1" lang="ru-RU" altLang="ja-JP" dirty="0" smtClean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b="0" i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アダプ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altLang="ja-JP" b="0" i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адаптация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ru-RU" altLang="ja-JP" dirty="0" smtClean="0"/>
                        <a:t>48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169741"/>
                  </a:ext>
                </a:extLst>
              </a:tr>
              <a:tr h="728714">
                <a:tc>
                  <a:txBody>
                    <a:bodyPr/>
                    <a:lstStyle/>
                    <a:p>
                      <a:r>
                        <a:rPr kumimoji="1" lang="ru-RU" altLang="ja-JP" dirty="0" smtClean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b="0" i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視点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altLang="ja-JP" b="0" i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точка зрения 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ru-RU" altLang="ja-JP" dirty="0" smtClean="0"/>
                        <a:t>46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168623"/>
                  </a:ext>
                </a:extLst>
              </a:tr>
              <a:tr h="613604">
                <a:tc>
                  <a:txBody>
                    <a:bodyPr/>
                    <a:lstStyle/>
                    <a:p>
                      <a:r>
                        <a:rPr kumimoji="1" lang="ru-RU" altLang="ja-JP" dirty="0" smtClean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b="0" i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スポーツ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altLang="ja-JP" b="0" i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спорт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ru-RU" altLang="ja-JP" dirty="0" smtClean="0"/>
                        <a:t>30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17633"/>
                  </a:ext>
                </a:extLst>
              </a:tr>
              <a:tr h="436529">
                <a:tc>
                  <a:txBody>
                    <a:bodyPr/>
                    <a:lstStyle/>
                    <a:p>
                      <a:r>
                        <a:rPr kumimoji="1" lang="ru-RU" altLang="ja-JP" dirty="0" smtClean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b="0" i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日本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altLang="ja-JP" b="0" i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Япония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ru-RU" altLang="ja-JP" dirty="0" smtClean="0"/>
                        <a:t>28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003204"/>
                  </a:ext>
                </a:extLst>
              </a:tr>
              <a:tr h="436529">
                <a:tc>
                  <a:txBody>
                    <a:bodyPr/>
                    <a:lstStyle/>
                    <a:p>
                      <a:r>
                        <a:rPr kumimoji="1" lang="ru-RU" altLang="ja-JP" dirty="0" smtClean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b="0" i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コート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altLang="ja-JP" b="0" i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корт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ru-RU" altLang="ja-JP" dirty="0" smtClean="0"/>
                        <a:t>27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548896"/>
                  </a:ext>
                </a:extLst>
              </a:tr>
              <a:tr h="613604">
                <a:tc>
                  <a:txBody>
                    <a:bodyPr/>
                    <a:lstStyle/>
                    <a:p>
                      <a:r>
                        <a:rPr kumimoji="1" lang="ru-RU" altLang="ja-JP" dirty="0" smtClean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b="0" i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サッカー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altLang="ja-JP" b="0" i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футбол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ru-RU" altLang="ja-JP" dirty="0" smtClean="0"/>
                        <a:t>26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951164"/>
                  </a:ext>
                </a:extLst>
              </a:tr>
              <a:tr h="436529">
                <a:tc>
                  <a:txBody>
                    <a:bodyPr/>
                    <a:lstStyle/>
                    <a:p>
                      <a:r>
                        <a:rPr kumimoji="1" lang="ru-RU" altLang="ja-JP" dirty="0" smtClean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b="0" i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詳しく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altLang="ja-JP" b="0" i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подробно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ru-RU" altLang="ja-JP" dirty="0" smtClean="0"/>
                        <a:t>25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30911"/>
                  </a:ext>
                </a:extLst>
              </a:tr>
              <a:tr h="468732">
                <a:tc>
                  <a:txBody>
                    <a:bodyPr/>
                    <a:lstStyle/>
                    <a:p>
                      <a:r>
                        <a:rPr kumimoji="1" lang="ru-RU" altLang="ja-JP" dirty="0" smtClean="0"/>
                        <a:t>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b="0" i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学ぶ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altLang="ja-JP" b="0" i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учиться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ru-RU" altLang="ja-JP" dirty="0" smtClean="0"/>
                        <a:t>25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383534"/>
                  </a:ext>
                </a:extLst>
              </a:tr>
              <a:tr h="436529">
                <a:tc>
                  <a:txBody>
                    <a:bodyPr/>
                    <a:lstStyle/>
                    <a:p>
                      <a:r>
                        <a:rPr kumimoji="1" lang="ru-RU" altLang="ja-JP" dirty="0" smtClean="0"/>
                        <a:t>9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b="0" i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テニス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altLang="ja-JP" b="0" i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теннис 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ru-RU" altLang="ja-JP" dirty="0" smtClean="0"/>
                        <a:t>20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127728"/>
                  </a:ext>
                </a:extLst>
              </a:tr>
              <a:tr h="613604">
                <a:tc>
                  <a:txBody>
                    <a:bodyPr/>
                    <a:lstStyle/>
                    <a:p>
                      <a:r>
                        <a:rPr kumimoji="1" lang="ru-RU" altLang="ja-JP" dirty="0" smtClean="0"/>
                        <a:t>10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b="0" i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行う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altLang="ja-JP" b="0" i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проводить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ru-RU" altLang="ja-JP" dirty="0" smtClean="0"/>
                        <a:t>20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119773"/>
                  </a:ext>
                </a:extLst>
              </a:tr>
            </a:tbl>
          </a:graphicData>
        </a:graphic>
      </p:graphicFrame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742" y="1088571"/>
            <a:ext cx="7622875" cy="429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030266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ие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995_TF56160789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{D90ADA90-1855-482D-9E0A-55C5A85C1D73}tf56160789_win32</Template>
  <TotalTime>32</TotalTime>
  <Words>144</Words>
  <Application>Microsoft Office PowerPoint</Application>
  <PresentationFormat>Широкоэкранный</PresentationFormat>
  <Paragraphs>57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3" baseType="lpstr">
      <vt:lpstr>FreesiaUPC</vt:lpstr>
      <vt:lpstr>ＭＳ Ｐゴシック</vt:lpstr>
      <vt:lpstr>Roboto</vt:lpstr>
      <vt:lpstr>Arial</vt:lpstr>
      <vt:lpstr>Bookman Old Style</vt:lpstr>
      <vt:lpstr>Calibri</vt:lpstr>
      <vt:lpstr>Franklin Gothic Book</vt:lpstr>
      <vt:lpstr>Пользовательские</vt:lpstr>
      <vt:lpstr>Спорт для людей с ОВЗ в Японии</vt:lpstr>
      <vt:lpstr>Цель: изучить тренды в области спорта для людей с ОВЗ в Японии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Спорт для людей с ОВЗ в Японии</dc:title>
  <dc:creator>User</dc:creator>
  <cp:lastModifiedBy>Ми Э</cp:lastModifiedBy>
  <cp:revision>3</cp:revision>
  <dcterms:created xsi:type="dcterms:W3CDTF">2025-11-13T04:41:13Z</dcterms:created>
  <dcterms:modified xsi:type="dcterms:W3CDTF">2025-11-13T22:15:40Z</dcterms:modified>
</cp:coreProperties>
</file>