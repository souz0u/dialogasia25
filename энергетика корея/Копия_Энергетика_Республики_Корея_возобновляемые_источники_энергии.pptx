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B982B2-C28A-46AF-9B36-71088CB9E9A6}">
  <a:tblStyle styleId="{57B982B2-C28A-46AF-9B36-71088CB9E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22" Type="http://schemas.openxmlformats.org/officeDocument/2006/relationships/font" Target="fonts/Oswald-bold.fntdata"/><Relationship Id="rId10" Type="http://schemas.openxmlformats.org/officeDocument/2006/relationships/slide" Target="slides/slide4.xml"/><Relationship Id="rId21" Type="http://schemas.openxmlformats.org/officeDocument/2006/relationships/font" Target="fonts/Oswald-regular.fntdata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05c1fb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305c1fb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f701f9b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f701f9b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2f701f9b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2f701f9b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2f701f9b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2f701f9b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f701f9b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f701f9b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12606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Энергетика Республики Корея: возобновляемые источники энергии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3863500"/>
            <a:ext cx="2756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280">
                <a:latin typeface="Raleway"/>
                <a:ea typeface="Raleway"/>
                <a:cs typeface="Raleway"/>
                <a:sym typeface="Raleway"/>
              </a:rPr>
              <a:t>Выполнили студенты группы ВИА (2 курс)</a:t>
            </a:r>
            <a:endParaRPr sz="128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280">
                <a:latin typeface="Raleway"/>
                <a:ea typeface="Raleway"/>
                <a:cs typeface="Raleway"/>
                <a:sym typeface="Raleway"/>
              </a:rPr>
              <a:t>Наставник: Дарья Нюхина</a:t>
            </a:r>
            <a:endParaRPr sz="128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88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550" y="2571740"/>
            <a:ext cx="7688100" cy="399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60350" y="1311125"/>
            <a:ext cx="8823300" cy="34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5655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AutoNum type="arabicPeriod"/>
            </a:pPr>
            <a:r>
              <a:rPr b="1" lang="ru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Какое место ВИЭ занимают в энергетическом развитии Республики Корея?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655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AutoNum type="arabicPeriod"/>
            </a:pPr>
            <a:r>
              <a:rPr b="1" lang="ru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Какие виды ВИЭ являются приоритетными для Республики Корея на современном этапе?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655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AutoNum type="arabicPeriod"/>
            </a:pPr>
            <a:r>
              <a:rPr b="1" lang="ru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Существует ли корреляция между климатическими условиями и выработкой гидро-, геотермальной и солнечной энергии в Республике Корея?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60350" y="476225"/>
            <a:ext cx="4391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Исследовательские вопросы</a:t>
            </a:r>
            <a:endParaRPr b="1"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243350" y="4057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Начало работы: код и используемые методы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23700" y="1507000"/>
            <a:ext cx="5153700" cy="1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Предварительная обработка данных: удаление столбцов с пропусками;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Анализ временных рядов;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Визуализация данных в Python: построение линейных графиков;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Корреляционный анализ, расчет коэффициента корреляции Пирсона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8340" r="0" t="0"/>
          <a:stretch/>
        </p:blipFill>
        <p:spPr>
          <a:xfrm>
            <a:off x="5133200" y="1073582"/>
            <a:ext cx="3864451" cy="248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47332" t="0"/>
          <a:stretch/>
        </p:blipFill>
        <p:spPr>
          <a:xfrm>
            <a:off x="5133200" y="3512775"/>
            <a:ext cx="3864451" cy="14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40300" y="465900"/>
            <a:ext cx="83496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Место ВИЭ в </a:t>
            </a:r>
            <a:r>
              <a:rPr lang="ru" sz="2100"/>
              <a:t>энергетическом</a:t>
            </a:r>
            <a:r>
              <a:rPr lang="ru" sz="2100"/>
              <a:t> развитии Республики Корея </a:t>
            </a:r>
            <a:endParaRPr sz="2100"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5070" r="6441" t="0"/>
          <a:stretch/>
        </p:blipFill>
        <p:spPr>
          <a:xfrm>
            <a:off x="185550" y="972100"/>
            <a:ext cx="4506049" cy="3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185550" y="4337200"/>
            <a:ext cx="43863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Рис. 1. Энергетика Республики Корея с 1990 по 2024, тыс. тонн нефтяного эквивалента (составлено авторами по: KESIS)</a:t>
            </a:r>
            <a:endParaRPr sz="150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898" y="972100"/>
            <a:ext cx="4721453" cy="3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850475" y="4337200"/>
            <a:ext cx="43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Рис. 2. Развитие видов ВИЭ в Республике Корея с 1990 по 2023, гигаватт/ч (составлено авторами по: KESIS)</a:t>
            </a:r>
            <a:endParaRPr sz="150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30000" y="432200"/>
            <a:ext cx="8227200" cy="19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40"/>
              <a:t>К</a:t>
            </a:r>
            <a:r>
              <a:rPr lang="ru" sz="1940"/>
              <a:t>орреляция между климатическими условиями и выработкой ВИЭ в Республике Корея</a:t>
            </a:r>
            <a:endParaRPr sz="1940"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5773725" y="1341100"/>
            <a:ext cx="3297000" cy="24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Пик выработки </a:t>
            </a:r>
            <a:r>
              <a:rPr lang="ru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гидроэлектроэнергии приходится на сезон дождей в Республике Корея (июль). Пик выработки солнечной энергии приходится на период наибольшей солнечной активности (март-май). Спад в ноябре (сокращение светового дня до 10 часов).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75" y="1341107"/>
            <a:ext cx="5000051" cy="312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678450" y="4405500"/>
            <a:ext cx="53103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Рис. 3. Объемы выработки </a:t>
            </a:r>
            <a:r>
              <a:rPr lang="ru" sz="13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гидроэлектроэнергии, геотермальной и солнечной энергии</a:t>
            </a:r>
            <a:r>
              <a:rPr lang="ru" sz="13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 по месяцам в Республике Корея в период с 2015 по 2025, тыс. тонн нефтяного эквивалента (составлено авторами по: KESIS)</a:t>
            </a:r>
            <a:endParaRPr sz="130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678450" y="494050"/>
            <a:ext cx="9216900" cy="14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Коэффициенты</a:t>
            </a:r>
            <a:r>
              <a:rPr lang="ru" sz="2400"/>
              <a:t> корреляции Пирсона</a:t>
            </a:r>
            <a:endParaRPr sz="2400"/>
          </a:p>
        </p:txBody>
      </p:sp>
      <p:graphicFrame>
        <p:nvGraphicFramePr>
          <p:cNvPr id="125" name="Google Shape;125;p18"/>
          <p:cNvGraphicFramePr/>
          <p:nvPr/>
        </p:nvGraphicFramePr>
        <p:xfrm>
          <a:off x="678450" y="222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{57B982B2-C28A-46AF-9B36-71088CB9E9A6}</a:tableStyleId>
              </a:tblPr>
              <a:tblGrid>
                <a:gridCol w="3186650"/>
                <a:gridCol w="3186650"/>
              </a:tblGrid>
              <a:tr h="5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Солнечная энергия и облачность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Гидроэнергия и осадки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0.48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88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Солнечная энергия и солнечная радиация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Гидроэнергия и облачность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8"/>
          <p:cNvSpPr txBox="1"/>
          <p:nvPr/>
        </p:nvSpPr>
        <p:spPr>
          <a:xfrm>
            <a:off x="595975" y="1658275"/>
            <a:ext cx="5279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Таблица 1. Коэффициенты корреляции Пирсона</a:t>
            </a:r>
            <a:endParaRPr sz="150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7202800" y="2170975"/>
            <a:ext cx="1391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Слабая взаимосвязь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202800" y="2879750"/>
            <a:ext cx="1391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Умеренная </a:t>
            </a: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взаимосвязь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7202800" y="3588525"/>
            <a:ext cx="1391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Умеренная взаимосвязь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7202800" y="4266150"/>
            <a:ext cx="1391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Сильная</a:t>
            </a:r>
            <a:r>
              <a:rPr lang="ru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взаимосвязь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