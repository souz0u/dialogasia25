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94" d="100"/>
          <a:sy n="94" d="100"/>
        </p:scale>
        <p:origin x="2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6417E-433C-4502-B10F-CD2CAA6E7B69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8C644-BA13-49A1-8DAF-63F0655E75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2561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6417E-433C-4502-B10F-CD2CAA6E7B69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8C644-BA13-49A1-8DAF-63F0655E75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7097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6417E-433C-4502-B10F-CD2CAA6E7B69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8C644-BA13-49A1-8DAF-63F0655E75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0206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6417E-433C-4502-B10F-CD2CAA6E7B69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8C644-BA13-49A1-8DAF-63F0655E75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622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6417E-433C-4502-B10F-CD2CAA6E7B69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8C644-BA13-49A1-8DAF-63F0655E75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3191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6417E-433C-4502-B10F-CD2CAA6E7B69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8C644-BA13-49A1-8DAF-63F0655E75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1419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6417E-433C-4502-B10F-CD2CAA6E7B69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8C644-BA13-49A1-8DAF-63F0655E75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8598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6417E-433C-4502-B10F-CD2CAA6E7B69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8C644-BA13-49A1-8DAF-63F0655E75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6007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6417E-433C-4502-B10F-CD2CAA6E7B69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8C644-BA13-49A1-8DAF-63F0655E75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1069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6417E-433C-4502-B10F-CD2CAA6E7B69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8C644-BA13-49A1-8DAF-63F0655E75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2569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6417E-433C-4502-B10F-CD2CAA6E7B69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8C644-BA13-49A1-8DAF-63F0655E75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426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6417E-433C-4502-B10F-CD2CAA6E7B69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E8C644-BA13-49A1-8DAF-63F0655E75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4152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58686" y="820285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Компьютерный анализ текста</a:t>
            </a:r>
            <a:br>
              <a:rPr lang="ru-RU" dirty="0" smtClean="0"/>
            </a:br>
            <a:r>
              <a:rPr lang="ru-RU" dirty="0" smtClean="0"/>
              <a:t>Этап 1 - мучительный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1" y="2840492"/>
            <a:ext cx="4003220" cy="40032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88529" y="3493634"/>
            <a:ext cx="49312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i="1" dirty="0" smtClean="0"/>
              <a:t>Изучаем южнокорейские диаспоры в СМИ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37564" y="5535386"/>
            <a:ext cx="24819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i="1" dirty="0" smtClean="0"/>
              <a:t>Южно-Сахалинск</a:t>
            </a:r>
          </a:p>
          <a:p>
            <a:pPr algn="ctr"/>
            <a:r>
              <a:rPr lang="ru-RU" sz="2400" i="1" dirty="0" smtClean="0"/>
              <a:t>12.11.2025 </a:t>
            </a:r>
            <a:endParaRPr lang="ru-RU" sz="2400" i="1" dirty="0"/>
          </a:p>
        </p:txBody>
      </p:sp>
    </p:spTree>
    <p:extLst>
      <p:ext uri="{BB962C8B-B14F-4D97-AF65-F5344CB8AC3E}">
        <p14:creationId xmlns:p14="http://schemas.microsoft.com/office/powerpoint/2010/main" val="219584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Проблема первая: сбор данных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7413" y="1948089"/>
            <a:ext cx="4861830" cy="4351338"/>
          </a:xfrm>
        </p:spPr>
      </p:pic>
      <p:sp>
        <p:nvSpPr>
          <p:cNvPr id="5" name="TextBox 4"/>
          <p:cNvSpPr txBox="1"/>
          <p:nvPr/>
        </p:nvSpPr>
        <p:spPr>
          <a:xfrm>
            <a:off x="838200" y="1948089"/>
            <a:ext cx="3731078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i="1" dirty="0" smtClean="0"/>
              <a:t>Разметка текста: </a:t>
            </a:r>
          </a:p>
          <a:p>
            <a:endParaRPr lang="ru-RU" sz="3200" i="1" dirty="0"/>
          </a:p>
          <a:p>
            <a:r>
              <a:rPr lang="en-US" sz="3200" dirty="0" smtClean="0"/>
              <a:t>JSON {…}</a:t>
            </a:r>
          </a:p>
          <a:p>
            <a:r>
              <a:rPr lang="en-US" sz="3200" dirty="0" smtClean="0"/>
              <a:t>XML &lt;…&gt;</a:t>
            </a:r>
          </a:p>
          <a:p>
            <a:r>
              <a:rPr lang="en-US" sz="3200" dirty="0" smtClean="0"/>
              <a:t>HTML &lt;…&gt;</a:t>
            </a:r>
            <a:endParaRPr lang="ru-RU" sz="3200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9449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HTML-</a:t>
            </a:r>
            <a:r>
              <a:rPr lang="ru-RU" dirty="0" smtClean="0"/>
              <a:t>разметка (на примере сообщения)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417410"/>
            <a:ext cx="1051560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1600" dirty="0" smtClean="0"/>
              <a:t>&lt;</a:t>
            </a:r>
            <a:r>
              <a:rPr lang="en-US" sz="1600" dirty="0" smtClean="0"/>
              <a:t>html&gt;</a:t>
            </a:r>
            <a:endParaRPr lang="ru-RU" sz="1600" dirty="0" smtClean="0"/>
          </a:p>
          <a:p>
            <a:pPr marL="0" indent="0">
              <a:lnSpc>
                <a:spcPct val="100000"/>
              </a:lnSpc>
              <a:buNone/>
            </a:pPr>
            <a:r>
              <a:rPr lang="ru-RU" sz="1600" dirty="0" smtClean="0"/>
              <a:t>	&lt;</a:t>
            </a:r>
            <a:r>
              <a:rPr lang="ru-RU" sz="1600" dirty="0" err="1"/>
              <a:t>div</a:t>
            </a:r>
            <a:r>
              <a:rPr lang="ru-RU" sz="1600" dirty="0"/>
              <a:t> </a:t>
            </a:r>
            <a:r>
              <a:rPr lang="ru-RU" sz="1600" dirty="0" err="1"/>
              <a:t>class</a:t>
            </a:r>
            <a:r>
              <a:rPr lang="ru-RU" sz="1600" dirty="0"/>
              <a:t>='</a:t>
            </a:r>
            <a:r>
              <a:rPr lang="ru-RU" sz="1600" dirty="0" err="1"/>
              <a:t>body</a:t>
            </a:r>
            <a:r>
              <a:rPr lang="ru-RU" sz="1600" dirty="0"/>
              <a:t>'&gt; </a:t>
            </a:r>
            <a:endParaRPr lang="ru-RU" sz="1600" dirty="0" smtClean="0"/>
          </a:p>
          <a:p>
            <a:pPr marL="0" indent="0">
              <a:lnSpc>
                <a:spcPct val="100000"/>
              </a:lnSpc>
              <a:buNone/>
            </a:pPr>
            <a:r>
              <a:rPr lang="ru-RU" sz="1600" dirty="0"/>
              <a:t>	</a:t>
            </a:r>
            <a:r>
              <a:rPr lang="ru-RU" sz="1600" dirty="0" smtClean="0"/>
              <a:t>	&lt;</a:t>
            </a:r>
            <a:r>
              <a:rPr lang="ru-RU" sz="1600" dirty="0" err="1"/>
              <a:t>div</a:t>
            </a:r>
            <a:r>
              <a:rPr lang="ru-RU" sz="1600" dirty="0"/>
              <a:t> </a:t>
            </a:r>
            <a:r>
              <a:rPr lang="ru-RU" sz="1600" dirty="0" err="1"/>
              <a:t>class</a:t>
            </a:r>
            <a:r>
              <a:rPr lang="ru-RU" sz="1600" dirty="0"/>
              <a:t>='</a:t>
            </a:r>
            <a:r>
              <a:rPr lang="ru-RU" sz="1600" dirty="0" err="1"/>
              <a:t>pull_right</a:t>
            </a:r>
            <a:r>
              <a:rPr lang="ru-RU" sz="1600" dirty="0"/>
              <a:t> </a:t>
            </a:r>
            <a:r>
              <a:rPr lang="ru-RU" sz="1600" dirty="0" err="1"/>
              <a:t>date</a:t>
            </a:r>
            <a:r>
              <a:rPr lang="ru-RU" sz="1600" dirty="0"/>
              <a:t> </a:t>
            </a:r>
            <a:r>
              <a:rPr lang="ru-RU" sz="1600" dirty="0" err="1"/>
              <a:t>details</a:t>
            </a:r>
            <a:r>
              <a:rPr lang="ru-RU" sz="1600" dirty="0"/>
              <a:t>' </a:t>
            </a:r>
            <a:r>
              <a:rPr lang="ru-RU" sz="1600" dirty="0" err="1"/>
              <a:t>title</a:t>
            </a:r>
            <a:r>
              <a:rPr lang="ru-RU" sz="1600" dirty="0"/>
              <a:t>='19.05.2022 11:18:07 UTC+03:00'&gt; </a:t>
            </a:r>
            <a:endParaRPr lang="ru-RU" sz="1600" dirty="0" smtClean="0"/>
          </a:p>
          <a:p>
            <a:pPr marL="0" indent="0">
              <a:lnSpc>
                <a:spcPct val="100000"/>
              </a:lnSpc>
              <a:buNone/>
            </a:pPr>
            <a:r>
              <a:rPr lang="ru-RU" sz="1600" dirty="0"/>
              <a:t>	</a:t>
            </a:r>
            <a:r>
              <a:rPr lang="ru-RU" sz="1600" dirty="0" smtClean="0"/>
              <a:t>		11:18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600" dirty="0"/>
              <a:t>	</a:t>
            </a:r>
            <a:r>
              <a:rPr lang="ru-RU" sz="1600" dirty="0" smtClean="0"/>
              <a:t>	&lt;/</a:t>
            </a:r>
            <a:r>
              <a:rPr lang="ru-RU" sz="1600" dirty="0" err="1"/>
              <a:t>div</a:t>
            </a:r>
            <a:r>
              <a:rPr lang="ru-RU" sz="1600" dirty="0"/>
              <a:t>&gt; </a:t>
            </a:r>
            <a:endParaRPr lang="ru-RU" sz="1600" dirty="0" smtClean="0"/>
          </a:p>
          <a:p>
            <a:pPr marL="0" indent="0">
              <a:lnSpc>
                <a:spcPct val="100000"/>
              </a:lnSpc>
              <a:buNone/>
            </a:pPr>
            <a:r>
              <a:rPr lang="ru-RU" sz="1600" dirty="0" smtClean="0"/>
              <a:t>		&lt;</a:t>
            </a:r>
            <a:r>
              <a:rPr lang="ru-RU" sz="1600" dirty="0" err="1"/>
              <a:t>div</a:t>
            </a:r>
            <a:r>
              <a:rPr lang="ru-RU" sz="1600" dirty="0"/>
              <a:t> </a:t>
            </a:r>
            <a:r>
              <a:rPr lang="ru-RU" sz="1600" dirty="0" err="1"/>
              <a:t>class</a:t>
            </a:r>
            <a:r>
              <a:rPr lang="ru-RU" sz="1600" dirty="0"/>
              <a:t>='</a:t>
            </a:r>
            <a:r>
              <a:rPr lang="ru-RU" sz="1600" dirty="0" err="1"/>
              <a:t>text</a:t>
            </a:r>
            <a:r>
              <a:rPr lang="ru-RU" sz="1600" dirty="0"/>
              <a:t>'&gt; </a:t>
            </a:r>
            <a:endParaRPr lang="ru-RU" sz="1600" dirty="0" smtClean="0"/>
          </a:p>
          <a:p>
            <a:pPr marL="0" indent="0">
              <a:lnSpc>
                <a:spcPct val="100000"/>
              </a:lnSpc>
              <a:buNone/>
            </a:pPr>
            <a:r>
              <a:rPr lang="ru-RU" altLang="ko-KR" sz="1600" dirty="0"/>
              <a:t>	</a:t>
            </a:r>
            <a:r>
              <a:rPr lang="ru-RU" altLang="ko-KR" sz="1600" dirty="0" smtClean="0"/>
              <a:t>		</a:t>
            </a:r>
            <a:r>
              <a:rPr lang="ko-KR" altLang="en-US" sz="1600" dirty="0" smtClean="0"/>
              <a:t>전체 자문위원 가운데 청년 자문위원 수는 약 </a:t>
            </a:r>
            <a:r>
              <a:rPr lang="en-US" altLang="ko-KR" sz="1600" dirty="0" smtClean="0"/>
              <a:t>6</a:t>
            </a:r>
            <a:r>
              <a:rPr lang="ko-KR" altLang="en-US" sz="1600" dirty="0" smtClean="0"/>
              <a:t>천 명이다</a:t>
            </a:r>
            <a:r>
              <a:rPr lang="en-US" altLang="ko-KR" sz="1600" dirty="0" smtClean="0"/>
              <a:t>. </a:t>
            </a:r>
            <a:r>
              <a:rPr lang="ru-RU" altLang="ko-KR" sz="1600" dirty="0" smtClean="0"/>
              <a:t>	</a:t>
            </a:r>
            <a:r>
              <a:rPr lang="ru-RU" sz="1600" dirty="0"/>
              <a:t>	</a:t>
            </a:r>
            <a:r>
              <a:rPr lang="ru-RU" sz="1600" dirty="0" smtClean="0"/>
              <a:t>			&lt;/</a:t>
            </a:r>
            <a:r>
              <a:rPr lang="ru-RU" sz="1600" dirty="0" err="1"/>
              <a:t>div</a:t>
            </a:r>
            <a:r>
              <a:rPr lang="ru-RU" sz="1600" dirty="0"/>
              <a:t>&gt; </a:t>
            </a:r>
            <a:endParaRPr lang="ru-RU" sz="1600" dirty="0" smtClean="0"/>
          </a:p>
          <a:p>
            <a:pPr marL="0" indent="0">
              <a:lnSpc>
                <a:spcPct val="100000"/>
              </a:lnSpc>
              <a:buNone/>
            </a:pPr>
            <a:r>
              <a:rPr lang="ru-RU" sz="1600" dirty="0"/>
              <a:t>	</a:t>
            </a:r>
            <a:r>
              <a:rPr lang="ru-RU" sz="1600" dirty="0" smtClean="0"/>
              <a:t>&lt;/</a:t>
            </a:r>
            <a:r>
              <a:rPr lang="ru-RU" sz="1600" dirty="0" err="1" smtClean="0"/>
              <a:t>div</a:t>
            </a:r>
            <a:r>
              <a:rPr lang="ru-RU" sz="1600" dirty="0" smtClean="0"/>
              <a:t>&gt; </a:t>
            </a:r>
            <a:endParaRPr lang="ru-RU" sz="1600" dirty="0" smtClean="0"/>
          </a:p>
          <a:p>
            <a:pPr marL="0" indent="0">
              <a:lnSpc>
                <a:spcPct val="100000"/>
              </a:lnSpc>
              <a:buNone/>
            </a:pPr>
            <a:r>
              <a:rPr lang="ru-RU" sz="1600" dirty="0" smtClean="0"/>
              <a:t>	&lt;</a:t>
            </a:r>
            <a:r>
              <a:rPr lang="ru-RU" sz="1600" dirty="0" err="1"/>
              <a:t>div</a:t>
            </a:r>
            <a:r>
              <a:rPr lang="ru-RU" sz="1600" dirty="0"/>
              <a:t> </a:t>
            </a:r>
            <a:r>
              <a:rPr lang="ru-RU" sz="1600" dirty="0" err="1"/>
              <a:t>class</a:t>
            </a:r>
            <a:r>
              <a:rPr lang="ru-RU" sz="1600" dirty="0"/>
              <a:t>='</a:t>
            </a:r>
            <a:r>
              <a:rPr lang="ru-RU" sz="1600" dirty="0" err="1"/>
              <a:t>signature</a:t>
            </a:r>
            <a:r>
              <a:rPr lang="ru-RU" sz="1600" dirty="0"/>
              <a:t> </a:t>
            </a:r>
            <a:r>
              <a:rPr lang="ru-RU" sz="1600" dirty="0" err="1"/>
              <a:t>details</a:t>
            </a:r>
            <a:r>
              <a:rPr lang="ru-RU" sz="1600" dirty="0"/>
              <a:t>'&gt; </a:t>
            </a:r>
            <a:endParaRPr lang="ru-RU" sz="1600" dirty="0" smtClean="0"/>
          </a:p>
          <a:p>
            <a:pPr marL="0" indent="0">
              <a:lnSpc>
                <a:spcPct val="100000"/>
              </a:lnSpc>
              <a:buNone/>
            </a:pPr>
            <a:r>
              <a:rPr lang="ru-RU" sz="1600" dirty="0" smtClean="0"/>
              <a:t>		</a:t>
            </a:r>
            <a:r>
              <a:rPr lang="en-US" sz="1600" dirty="0" err="1" smtClean="0"/>
              <a:t>Maximov</a:t>
            </a:r>
            <a:r>
              <a:rPr lang="en-US" sz="1600" dirty="0" smtClean="0"/>
              <a:t> Alexey</a:t>
            </a:r>
            <a:endParaRPr lang="ru-RU" sz="1600" dirty="0" smtClean="0"/>
          </a:p>
          <a:p>
            <a:pPr marL="0" indent="0">
              <a:lnSpc>
                <a:spcPct val="100000"/>
              </a:lnSpc>
              <a:buNone/>
            </a:pPr>
            <a:r>
              <a:rPr lang="ru-RU" sz="1600" dirty="0"/>
              <a:t>	</a:t>
            </a:r>
            <a:r>
              <a:rPr lang="ru-RU" sz="1600" dirty="0" smtClean="0"/>
              <a:t>&lt;/</a:t>
            </a:r>
            <a:r>
              <a:rPr lang="ru-RU" sz="1600" dirty="0" err="1" smtClean="0"/>
              <a:t>div</a:t>
            </a:r>
            <a:r>
              <a:rPr lang="ru-RU" sz="1600" dirty="0" smtClean="0"/>
              <a:t>&gt; </a:t>
            </a:r>
            <a:endParaRPr lang="ru-RU" sz="1600" dirty="0" smtClean="0"/>
          </a:p>
          <a:p>
            <a:pPr marL="0" indent="0">
              <a:lnSpc>
                <a:spcPct val="100000"/>
              </a:lnSpc>
              <a:buNone/>
            </a:pPr>
            <a:r>
              <a:rPr lang="ru-RU" sz="1600" dirty="0" smtClean="0"/>
              <a:t>&lt;/</a:t>
            </a:r>
            <a:r>
              <a:rPr lang="en-US" sz="1600" dirty="0" smtClean="0"/>
              <a:t>html</a:t>
            </a:r>
            <a:r>
              <a:rPr lang="ru-RU" sz="1600" dirty="0" smtClean="0"/>
              <a:t>&gt;</a:t>
            </a:r>
            <a:endParaRPr lang="en-US" sz="1600" dirty="0" smtClean="0"/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11087100" y="1306059"/>
            <a:ext cx="0" cy="143691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>
            <a:off x="10597243" y="2742973"/>
            <a:ext cx="97971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10627179" y="2742973"/>
            <a:ext cx="0" cy="143691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11560628" y="2742973"/>
            <a:ext cx="0" cy="143691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10327821" y="4179887"/>
            <a:ext cx="674915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10387693" y="4179887"/>
            <a:ext cx="0" cy="143691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10972801" y="4179887"/>
            <a:ext cx="0" cy="143691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Овал 14"/>
          <p:cNvSpPr/>
          <p:nvPr/>
        </p:nvSpPr>
        <p:spPr>
          <a:xfrm>
            <a:off x="10971439" y="1177017"/>
            <a:ext cx="231321" cy="25808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/>
          <p:cNvSpPr/>
          <p:nvPr/>
        </p:nvSpPr>
        <p:spPr>
          <a:xfrm>
            <a:off x="10532609" y="2677206"/>
            <a:ext cx="231321" cy="25808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/>
          <p:cNvSpPr/>
          <p:nvPr/>
        </p:nvSpPr>
        <p:spPr>
          <a:xfrm>
            <a:off x="11425917" y="2613931"/>
            <a:ext cx="231321" cy="25808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/>
          <p:cNvSpPr/>
          <p:nvPr/>
        </p:nvSpPr>
        <p:spPr>
          <a:xfrm>
            <a:off x="10255704" y="4050845"/>
            <a:ext cx="231321" cy="25808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/>
          <p:cNvSpPr/>
          <p:nvPr/>
        </p:nvSpPr>
        <p:spPr>
          <a:xfrm>
            <a:off x="11472182" y="4050844"/>
            <a:ext cx="231321" cy="25808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/>
          <p:cNvSpPr/>
          <p:nvPr/>
        </p:nvSpPr>
        <p:spPr>
          <a:xfrm>
            <a:off x="10839790" y="4050843"/>
            <a:ext cx="231321" cy="25808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/>
          <p:cNvSpPr txBox="1"/>
          <p:nvPr/>
        </p:nvSpPr>
        <p:spPr>
          <a:xfrm>
            <a:off x="9668215" y="5745837"/>
            <a:ext cx="23431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smtClean="0"/>
              <a:t>HTML </a:t>
            </a:r>
            <a:r>
              <a:rPr lang="ru-RU" i="1" dirty="0" smtClean="0"/>
              <a:t>структура иерархична</a:t>
            </a: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4210091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6365" y="2153104"/>
            <a:ext cx="10515600" cy="1325563"/>
          </a:xfrm>
        </p:spPr>
        <p:txBody>
          <a:bodyPr>
            <a:noAutofit/>
          </a:bodyPr>
          <a:lstStyle/>
          <a:p>
            <a:r>
              <a:rPr lang="ru-RU" sz="6000" dirty="0" smtClean="0"/>
              <a:t>Практика №1 </a:t>
            </a:r>
            <a:br>
              <a:rPr lang="ru-RU" sz="6000" dirty="0" smtClean="0"/>
            </a:br>
            <a:r>
              <a:rPr lang="ru-RU" sz="6000" dirty="0" smtClean="0"/>
              <a:t>Работаем со структурой сайта</a:t>
            </a:r>
            <a:endParaRPr lang="ru-RU" sz="6000" dirty="0"/>
          </a:p>
        </p:txBody>
      </p:sp>
    </p:spTree>
    <p:extLst>
      <p:ext uri="{BB962C8B-B14F-4D97-AF65-F5344CB8AC3E}">
        <p14:creationId xmlns:p14="http://schemas.microsoft.com/office/powerpoint/2010/main" val="1574371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b="1" i="1" dirty="0" smtClean="0"/>
              <a:t>Что такое </a:t>
            </a:r>
            <a:r>
              <a:rPr lang="ru-RU" sz="4800" b="1" i="1" dirty="0" err="1" smtClean="0"/>
              <a:t>парсинг</a:t>
            </a:r>
            <a:r>
              <a:rPr lang="ru-RU" sz="4800" b="1" i="1" dirty="0" smtClean="0"/>
              <a:t>?</a:t>
            </a:r>
            <a:endParaRPr lang="ru-RU" sz="4800" b="1" i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 err="1" smtClean="0"/>
              <a:t>Парсинг</a:t>
            </a:r>
            <a:r>
              <a:rPr lang="ru-RU" sz="3200" dirty="0" smtClean="0"/>
              <a:t> – способ автоматического поиска и </a:t>
            </a:r>
            <a:r>
              <a:rPr lang="ru-RU" sz="3200" dirty="0" err="1" smtClean="0"/>
              <a:t>выгружения</a:t>
            </a:r>
            <a:r>
              <a:rPr lang="ru-RU" sz="3200" dirty="0" smtClean="0"/>
              <a:t> искомых данных из </a:t>
            </a:r>
            <a:r>
              <a:rPr lang="en-US" sz="3200" dirty="0" smtClean="0"/>
              <a:t>html-</a:t>
            </a:r>
            <a:r>
              <a:rPr lang="ru-RU" sz="3200" dirty="0" smtClean="0"/>
              <a:t>структуры сайта</a:t>
            </a:r>
          </a:p>
          <a:p>
            <a:pPr marL="0" indent="0">
              <a:buNone/>
            </a:pPr>
            <a:endParaRPr lang="ru-RU" sz="3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6601" y="3012621"/>
            <a:ext cx="3424346" cy="3682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194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6365" y="2153104"/>
            <a:ext cx="10515600" cy="1325563"/>
          </a:xfrm>
        </p:spPr>
        <p:txBody>
          <a:bodyPr>
            <a:noAutofit/>
          </a:bodyPr>
          <a:lstStyle/>
          <a:p>
            <a:r>
              <a:rPr lang="ru-RU" sz="6000" dirty="0" smtClean="0"/>
              <a:t>Практика №2 </a:t>
            </a:r>
            <a:br>
              <a:rPr lang="ru-RU" sz="6000" dirty="0" smtClean="0"/>
            </a:br>
            <a:r>
              <a:rPr lang="ru-RU" sz="6000" dirty="0" err="1" smtClean="0"/>
              <a:t>Парсинг</a:t>
            </a:r>
            <a:r>
              <a:rPr lang="ru-RU" sz="6000" dirty="0" smtClean="0"/>
              <a:t> </a:t>
            </a:r>
            <a:r>
              <a:rPr lang="ru-RU" sz="6000" dirty="0" err="1" smtClean="0"/>
              <a:t>парсера</a:t>
            </a:r>
            <a:r>
              <a:rPr lang="ru-RU" sz="6000" dirty="0" smtClean="0"/>
              <a:t> глазами</a:t>
            </a:r>
            <a:endParaRPr lang="ru-RU" sz="6000" dirty="0"/>
          </a:p>
        </p:txBody>
      </p:sp>
    </p:spTree>
    <p:extLst>
      <p:ext uri="{BB962C8B-B14F-4D97-AF65-F5344CB8AC3E}">
        <p14:creationId xmlns:p14="http://schemas.microsoft.com/office/powerpoint/2010/main" val="3758703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5400" dirty="0" smtClean="0"/>
              <a:t>Результат</a:t>
            </a:r>
            <a:endParaRPr lang="ru-RU" sz="5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3600" dirty="0" smtClean="0"/>
              <a:t>Число текстов – 29 </a:t>
            </a:r>
          </a:p>
          <a:p>
            <a:r>
              <a:rPr lang="ru-RU" sz="3600" dirty="0" smtClean="0"/>
              <a:t>Количество СМИ – 4 (</a:t>
            </a:r>
            <a:r>
              <a:rPr lang="en-US" sz="3600" dirty="0" err="1" smtClean="0"/>
              <a:t>Dongponews</a:t>
            </a:r>
            <a:r>
              <a:rPr lang="en-US" sz="3600" dirty="0" smtClean="0"/>
              <a:t>, </a:t>
            </a:r>
            <a:r>
              <a:rPr lang="en-US" sz="3600" dirty="0" err="1" smtClean="0"/>
              <a:t>Yonhap</a:t>
            </a:r>
            <a:r>
              <a:rPr lang="en-US" sz="3600" dirty="0" smtClean="0"/>
              <a:t>, Korea Times, World Korean</a:t>
            </a:r>
            <a:r>
              <a:rPr lang="ru-RU" sz="3600" dirty="0" smtClean="0"/>
              <a:t>)</a:t>
            </a:r>
          </a:p>
          <a:p>
            <a:r>
              <a:rPr lang="ru-RU" sz="3600" dirty="0" smtClean="0"/>
              <a:t>Время выхода: 27.10.2025-11.11.2025</a:t>
            </a:r>
          </a:p>
          <a:p>
            <a:endParaRPr lang="ru-RU" dirty="0" smtClean="0"/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9742" y="3453493"/>
            <a:ext cx="3552258" cy="3552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625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Первый шаг на пути к анализу: предобработка и стоп-слова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 smtClean="0"/>
              <a:t>Почему необходимо </a:t>
            </a:r>
            <a:r>
              <a:rPr lang="ru-RU" b="1" dirty="0" err="1" smtClean="0"/>
              <a:t>предобрабатывать</a:t>
            </a:r>
            <a:r>
              <a:rPr lang="ru-RU" b="1" dirty="0" smtClean="0"/>
              <a:t> текст?</a:t>
            </a:r>
          </a:p>
          <a:p>
            <a:r>
              <a:rPr lang="ru-RU" i="1" dirty="0" smtClean="0"/>
              <a:t>Очищение лишних символов (*§©¶), цифр, латинских символов и пробелов (\</a:t>
            </a:r>
            <a:r>
              <a:rPr lang="en-US" i="1" dirty="0" smtClean="0"/>
              <a:t>n</a:t>
            </a:r>
            <a:r>
              <a:rPr lang="ru-RU" i="1" dirty="0" smtClean="0"/>
              <a:t>)</a:t>
            </a:r>
          </a:p>
          <a:p>
            <a:r>
              <a:rPr lang="ru-RU" i="1" dirty="0" smtClean="0"/>
              <a:t>Приведение к единому формату</a:t>
            </a:r>
          </a:p>
          <a:p>
            <a:r>
              <a:rPr lang="ru-RU" i="1" dirty="0" smtClean="0"/>
              <a:t>Удаление слов, не несущих смысловую нагрузку (стоп-слова)</a:t>
            </a:r>
          </a:p>
          <a:p>
            <a:endParaRPr lang="ru-RU" i="1" dirty="0"/>
          </a:p>
          <a:p>
            <a:pPr marL="0" indent="0" algn="ctr">
              <a:buNone/>
            </a:pPr>
            <a:r>
              <a:rPr lang="ru-RU" sz="2400" b="1" dirty="0" smtClean="0"/>
              <a:t>!!!Предобработка, как правило, часто зависит от поставленных задач!!!</a:t>
            </a:r>
          </a:p>
          <a:p>
            <a:pPr marL="0" indent="0">
              <a:buNone/>
            </a:pPr>
            <a:endParaRPr lang="ru-RU" dirty="0"/>
          </a:p>
          <a:p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3463468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6365" y="2153104"/>
            <a:ext cx="10515600" cy="1325563"/>
          </a:xfrm>
        </p:spPr>
        <p:txBody>
          <a:bodyPr>
            <a:noAutofit/>
          </a:bodyPr>
          <a:lstStyle/>
          <a:p>
            <a:r>
              <a:rPr lang="ru-RU" sz="6000" dirty="0" smtClean="0"/>
              <a:t>Практика №3 </a:t>
            </a:r>
            <a:br>
              <a:rPr lang="ru-RU" sz="6000" dirty="0" smtClean="0"/>
            </a:br>
            <a:r>
              <a:rPr lang="ru-RU" sz="6000" dirty="0" smtClean="0"/>
              <a:t>Составим список стоп-слов на корейском</a:t>
            </a:r>
            <a:endParaRPr lang="ru-RU" sz="6000" dirty="0"/>
          </a:p>
        </p:txBody>
      </p:sp>
    </p:spTree>
    <p:extLst>
      <p:ext uri="{BB962C8B-B14F-4D97-AF65-F5344CB8AC3E}">
        <p14:creationId xmlns:p14="http://schemas.microsoft.com/office/powerpoint/2010/main" val="380888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Страшные слова: </a:t>
            </a:r>
            <a:r>
              <a:rPr lang="ru-RU" dirty="0" err="1" smtClean="0"/>
              <a:t>токенизация</a:t>
            </a:r>
            <a:r>
              <a:rPr lang="ru-RU" dirty="0" smtClean="0"/>
              <a:t>, </a:t>
            </a:r>
            <a:r>
              <a:rPr lang="ru-RU" dirty="0" err="1" smtClean="0"/>
              <a:t>лемматизация</a:t>
            </a:r>
            <a:r>
              <a:rPr lang="ru-RU" dirty="0" smtClean="0"/>
              <a:t> и </a:t>
            </a:r>
            <a:r>
              <a:rPr lang="ru-RU" dirty="0" err="1" smtClean="0"/>
              <a:t>частеречная</a:t>
            </a:r>
            <a:r>
              <a:rPr lang="ru-RU" dirty="0" smtClean="0"/>
              <a:t> разметка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Существуют способы автоматического аннотирования текста, которые способны нам выдать:</a:t>
            </a:r>
          </a:p>
          <a:p>
            <a:pPr lvl="1"/>
            <a:r>
              <a:rPr lang="ru-RU" dirty="0" err="1" smtClean="0"/>
              <a:t>Токен</a:t>
            </a:r>
            <a:r>
              <a:rPr lang="ru-RU" dirty="0" smtClean="0"/>
              <a:t> (отдельное слова)</a:t>
            </a:r>
          </a:p>
          <a:p>
            <a:pPr lvl="1"/>
            <a:r>
              <a:rPr lang="ru-RU" dirty="0" smtClean="0"/>
              <a:t>Лемма (изначальная форма слова; кошки → кошка)</a:t>
            </a:r>
          </a:p>
          <a:p>
            <a:pPr marL="457200" lvl="1" indent="0">
              <a:buNone/>
            </a:pPr>
            <a:r>
              <a:rPr lang="ru-RU" i="1" dirty="0" smtClean="0"/>
              <a:t>	Особенность корейского языка: </a:t>
            </a:r>
            <a:r>
              <a:rPr lang="ko-KR" altLang="en-US" dirty="0" smtClean="0"/>
              <a:t>날에</a:t>
            </a:r>
            <a:r>
              <a:rPr lang="ru-RU" altLang="ko-KR" dirty="0" smtClean="0"/>
              <a:t> </a:t>
            </a:r>
            <a:r>
              <a:rPr lang="ru-RU" dirty="0" smtClean="0"/>
              <a:t>→ </a:t>
            </a:r>
            <a:r>
              <a:rPr lang="ko-KR" altLang="en-US" dirty="0"/>
              <a:t>날</a:t>
            </a:r>
            <a:r>
              <a:rPr lang="en-US" altLang="ko-KR" dirty="0"/>
              <a:t>+</a:t>
            </a:r>
            <a:r>
              <a:rPr lang="ko-KR" altLang="en-US" dirty="0"/>
              <a:t>에</a:t>
            </a:r>
            <a:endParaRPr lang="ru-RU" i="1" dirty="0" smtClean="0"/>
          </a:p>
          <a:p>
            <a:pPr lvl="1"/>
            <a:r>
              <a:rPr lang="ru-RU" dirty="0" smtClean="0"/>
              <a:t>Часть речи</a:t>
            </a:r>
          </a:p>
          <a:p>
            <a:pPr lvl="1"/>
            <a:r>
              <a:rPr lang="ru-RU" dirty="0" smtClean="0"/>
              <a:t>Синтаксическая роль слова в предложении</a:t>
            </a:r>
          </a:p>
          <a:p>
            <a:pPr lvl="1"/>
            <a:r>
              <a:rPr lang="ru-RU" dirty="0" smtClean="0"/>
              <a:t>Слово, от которого зависит (грамматика зависимостей)</a:t>
            </a:r>
          </a:p>
        </p:txBody>
      </p:sp>
    </p:spTree>
    <p:extLst>
      <p:ext uri="{BB962C8B-B14F-4D97-AF65-F5344CB8AC3E}">
        <p14:creationId xmlns:p14="http://schemas.microsoft.com/office/powerpoint/2010/main" val="2479044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Что сильнее: частота и </a:t>
            </a:r>
            <a:r>
              <a:rPr lang="en-US" dirty="0" smtClean="0"/>
              <a:t>TF-IDF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Необъяснимая эффективность больших данных или почему частота – основа всего</a:t>
            </a:r>
          </a:p>
          <a:p>
            <a:r>
              <a:rPr lang="ru-RU" dirty="0" smtClean="0"/>
              <a:t>Недостаток частоты – говорить обо всем и ни о чём</a:t>
            </a:r>
          </a:p>
          <a:p>
            <a:r>
              <a:rPr lang="en-US" dirty="0" smtClean="0"/>
              <a:t>TF-IDF </a:t>
            </a:r>
            <a:r>
              <a:rPr lang="ru-RU" dirty="0" smtClean="0"/>
              <a:t>– характерные слова для отдельных отрывков (</a:t>
            </a:r>
            <a:r>
              <a:rPr lang="ru-RU" dirty="0" err="1" smtClean="0"/>
              <a:t>обычныю</a:t>
            </a:r>
            <a:r>
              <a:rPr lang="ru-RU" dirty="0" smtClean="0"/>
              <a:t> частоту делим на количество упоминаний в тексте)</a:t>
            </a:r>
          </a:p>
        </p:txBody>
      </p:sp>
    </p:spTree>
    <p:extLst>
      <p:ext uri="{BB962C8B-B14F-4D97-AF65-F5344CB8AC3E}">
        <p14:creationId xmlns:p14="http://schemas.microsoft.com/office/powerpoint/2010/main" val="2765947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Дистрибутивная гипотеза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«Государство – это я» или «короля делает свита»</a:t>
            </a:r>
          </a:p>
          <a:p>
            <a:pPr lvl="1"/>
            <a:r>
              <a:rPr lang="ru-RU" dirty="0" err="1" smtClean="0"/>
              <a:t>Коллокаты</a:t>
            </a:r>
            <a:r>
              <a:rPr lang="ru-RU" dirty="0" smtClean="0"/>
              <a:t>: какие слова часто встречается рядом с целевым</a:t>
            </a:r>
          </a:p>
          <a:p>
            <a:pPr lvl="1"/>
            <a:r>
              <a:rPr lang="ru-RU" dirty="0" smtClean="0"/>
              <a:t>Векторное представление слова в сети или почему собака = кошка</a:t>
            </a:r>
          </a:p>
          <a:p>
            <a:pPr lvl="1"/>
            <a:r>
              <a:rPr lang="ru-RU" dirty="0" smtClean="0"/>
              <a:t>Каждая координата = упоминание в том или ином источнике</a:t>
            </a:r>
          </a:p>
          <a:p>
            <a:pPr lvl="1"/>
            <a:r>
              <a:rPr lang="ru-RU" dirty="0" smtClean="0"/>
              <a:t>Машинное обучение без учителя: начинаем строить ИИ </a:t>
            </a:r>
          </a:p>
          <a:p>
            <a:pPr lvl="1"/>
            <a:r>
              <a:rPr lang="ru-RU" dirty="0" smtClean="0"/>
              <a:t>Слова </a:t>
            </a:r>
            <a:r>
              <a:rPr lang="ru-RU" dirty="0" err="1" smtClean="0"/>
              <a:t>ассоциаты</a:t>
            </a:r>
            <a:r>
              <a:rPr lang="ru-RU" dirty="0" smtClean="0"/>
              <a:t>, которые упоминаются в схожей ситуации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1062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6365" y="2153104"/>
            <a:ext cx="10515600" cy="1325563"/>
          </a:xfrm>
        </p:spPr>
        <p:txBody>
          <a:bodyPr>
            <a:noAutofit/>
          </a:bodyPr>
          <a:lstStyle/>
          <a:p>
            <a:r>
              <a:rPr lang="ru-RU" sz="6000" dirty="0" smtClean="0"/>
              <a:t>Практика №</a:t>
            </a:r>
            <a:r>
              <a:rPr lang="en-US" sz="6000" dirty="0" smtClean="0"/>
              <a:t>4</a:t>
            </a:r>
            <a:r>
              <a:rPr lang="ru-RU" sz="6000" dirty="0" smtClean="0"/>
              <a:t> </a:t>
            </a:r>
            <a:br>
              <a:rPr lang="ru-RU" sz="6000" dirty="0" smtClean="0"/>
            </a:br>
            <a:r>
              <a:rPr lang="ru-RU" sz="6000" dirty="0" smtClean="0"/>
              <a:t>Доходим до </a:t>
            </a:r>
            <a:r>
              <a:rPr lang="ru-RU" sz="6000" strike="sngStrike" dirty="0" smtClean="0"/>
              <a:t>ручки</a:t>
            </a:r>
            <a:r>
              <a:rPr lang="ru-RU" sz="6000" dirty="0" smtClean="0"/>
              <a:t> ИИ</a:t>
            </a:r>
            <a:endParaRPr lang="ru-RU" sz="60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1757" y="3273878"/>
            <a:ext cx="3927021" cy="3927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212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i="1" dirty="0" smtClean="0"/>
              <a:t>Необходимые ссылки и контакты</a:t>
            </a:r>
            <a:endParaRPr lang="ru-RU" i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 smtClean="0"/>
              <a:t>Репозиторий</a:t>
            </a:r>
            <a:r>
              <a:rPr lang="ru-RU" dirty="0" smtClean="0"/>
              <a:t> с данными и кодом</a:t>
            </a:r>
          </a:p>
          <a:p>
            <a:r>
              <a:rPr lang="en-GB" dirty="0" smtClean="0"/>
              <a:t>https://github.com/murasakigarasu/korean_news </a:t>
            </a:r>
            <a:endParaRPr lang="ru-RU" dirty="0" smtClean="0"/>
          </a:p>
          <a:p>
            <a:r>
              <a:rPr lang="ru-RU" dirty="0" smtClean="0"/>
              <a:t>О цифровых вещах просто и доступно</a:t>
            </a:r>
          </a:p>
          <a:p>
            <a:r>
              <a:rPr lang="en-GB" dirty="0" smtClean="0"/>
              <a:t>https://sysblok.ru/ </a:t>
            </a:r>
            <a:endParaRPr lang="ru-RU" dirty="0" smtClean="0"/>
          </a:p>
          <a:p>
            <a:r>
              <a:rPr lang="ru-RU" dirty="0" smtClean="0"/>
              <a:t>Контакты для связи</a:t>
            </a:r>
          </a:p>
          <a:p>
            <a:r>
              <a:rPr lang="en-US" dirty="0" smtClean="0"/>
              <a:t>@</a:t>
            </a:r>
            <a:r>
              <a:rPr lang="fr-FR" dirty="0" smtClean="0"/>
              <a:t>murasakigarasu (tg</a:t>
            </a:r>
            <a:r>
              <a:rPr lang="ru-RU" dirty="0" smtClean="0"/>
              <a:t> аккаунт</a:t>
            </a:r>
            <a:r>
              <a:rPr lang="fr-FR" dirty="0" smtClean="0"/>
              <a:t>)</a:t>
            </a:r>
            <a:endParaRPr lang="ru-RU" dirty="0" smtClean="0"/>
          </a:p>
          <a:p>
            <a:r>
              <a:rPr lang="en-US" dirty="0" smtClean="0"/>
              <a:t>m_a_r8@mail.ru</a:t>
            </a:r>
            <a:r>
              <a:rPr lang="ru-RU" dirty="0" smtClean="0"/>
              <a:t> (почта)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9535" y="3049398"/>
            <a:ext cx="4122979" cy="3808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47069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1107</TotalTime>
  <Words>315</Words>
  <Application>Microsoft Office PowerPoint</Application>
  <PresentationFormat>Широкоэкранный</PresentationFormat>
  <Paragraphs>68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맑은 고딕</vt:lpstr>
      <vt:lpstr>Arial</vt:lpstr>
      <vt:lpstr>Calibri</vt:lpstr>
      <vt:lpstr>Calibri Light</vt:lpstr>
      <vt:lpstr>Тема Office</vt:lpstr>
      <vt:lpstr>Компьютерный анализ текста Этап 1 - мучительный</vt:lpstr>
      <vt:lpstr>Проблема первая: сбор данных</vt:lpstr>
      <vt:lpstr>HTML-разметка (на примере сообщения)</vt:lpstr>
      <vt:lpstr>Практика №1  Работаем со структурой сайта</vt:lpstr>
      <vt:lpstr>Что такое парсинг?</vt:lpstr>
      <vt:lpstr>Практика №2  Парсинг парсера глазами</vt:lpstr>
      <vt:lpstr>Результат</vt:lpstr>
      <vt:lpstr>Первый шаг на пути к анализу: предобработка и стоп-слова</vt:lpstr>
      <vt:lpstr>Практика №3  Составим список стоп-слов на корейском</vt:lpstr>
      <vt:lpstr>Страшные слова: токенизация, лемматизация и частеречная разметка</vt:lpstr>
      <vt:lpstr>Что сильнее: частота и TF-IDF</vt:lpstr>
      <vt:lpstr>Дистрибутивная гипотеза</vt:lpstr>
      <vt:lpstr>Практика №4  Доходим до ручки ИИ</vt:lpstr>
      <vt:lpstr>Необходимые ссылки и контакты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 этап Компьютерный анализ текста</dc:title>
  <dc:creator>Алексей Максимов</dc:creator>
  <cp:lastModifiedBy>Алексей Максимов</cp:lastModifiedBy>
  <cp:revision>11</cp:revision>
  <dcterms:created xsi:type="dcterms:W3CDTF">2025-11-11T23:15:15Z</dcterms:created>
  <dcterms:modified xsi:type="dcterms:W3CDTF">2025-11-12T17:42:51Z</dcterms:modified>
</cp:coreProperties>
</file>